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汇报主题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ource Han Sans SC"/>
              </a:defRPr>
            </a:pPr>
            <a:r>
              <a:t>黑滑石高值化商业化初步研究汇报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Source Han Serif SC"/>
              </a:defRPr>
            </a:pPr>
            <a:r>
              <a:t>[封面页]  封面页 — 深蓝渐变背景 + 汇报人/导师/日期信息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背景图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广丰黑滑石矿区全景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1 / 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汇报提纲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[清单列表]  6 个章节目录 — 01 背景 · 02 知识资产 · 03 初阶方案 · 04 中阶展望 · 05 高阶愿景 · 06 行动讨论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2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开篇 · 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黑滑石：被低估的 10 亿吨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[双栏布局]  左：原矿照片占位 | 右：矿物学身份卡片(化学式/结构/MgO含量/SiO₂含量/有机碳/储量)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黑滑石原矿手标本照片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PAPER-005 Meng 2022 Fig.1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位置: PDF 第 2 页, 约 15% 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3 / 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开篇 · 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核心矛盾：为什么 10 亿吨堆在那里？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[双栏布局]  左：当前困境(陶瓷填料80%+/煅烧白滑石¥500-800/吨/黑色低30-50%) | 右：新视角(碳原位石墨烯化/Mg分离/Si陶瓷化/导电填料¥5,000-20,000/吨)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4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开篇 · 路线全景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五条技术路线：覆盖从低到高的阶梯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[SVG 图表]  SVG流程图 — 黑滑石原矿→D1传统煅烧/D2 5G微波陶瓷/D3 N₂碳石墨烯(初阶旗帜)/D4抗菌岩板/D9酸浸分离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5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痛点即机会 · 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广丰黑滑石：储量 vs 价值的巨大落差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[双栏布局]  左：矿区地图占位 + XRF成分表占位 | 右：数据卡片(储量10亿吨/MgO 23-31%/售价~200-400元/吨)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广丰矿区地理位置(Google Earth)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Google Earth 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XRF 成分表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PAPER-005 Meng 2022 Table 1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位置: PDF 第 3 页, 约 20% 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6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痛点即机会 · 认知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碳：从杂质到资源的认知翻转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[SVG 图表]  分叉对比图 — 空气煅烧→CO₂→白滑石¥500-800/吨 vs N₂气氛→原位石墨烯化→导电填料¥5,000-20,000/吨 · 抗弯+43%/电阻率降1数量级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7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痛点即机会 · 科学基础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黑滑石热演化：PAPER-005 Meng 的核心发现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[双栏布局]  左：TG-DSC + In-situ XRD 占位 | 右：四阶段SVG示意图(Stage I-IV) + 活化窗口800-900°C + N₂保护窗口&gt;165°C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TG-DSC 热分析曲线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PAPER-005 Meng 2022 Fig.2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位置: PDF 第 5 页, 约 35% 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In-situ XRD 物相演化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PAPER-005 Meng 2022 Fig.6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位置: PDF 第 9 页, 约 60% 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8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痛点即机会 · 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N₂ vs Air：同一块矿石的两种命运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[双栏布局]  左：SVG柱状图(抗弯51.8 vs 36.1 MPa +43%/电阻率降1数量级/导热+0.62 W/(m·K)) | 右：TEM石墨烯占位 + 机理说明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N₂ vs Air 性能对比数据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PAPER-006 吴小文 2017 Fig.3-5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位置: PDF 约 45-55% 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TEM 石墨烯高分辨像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PAPER-006 吴小文 2017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位置: PDF 约 70% 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9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痛点即机会 · 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三个科学事实指向一个商业机会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[SVG 图表]  三圆汇聚图 — 10亿吨储量 × 四阶段热演化模型 × N₂碳石墨烯化 → 低成本原位石墨烯功能填料产业化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10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知识资产 · 论文总览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10 篇论文：五条路线的科学地基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[卡片矩阵]  2行×5列论文卡片矩阵 — 每卡含论文编号/作者/年份/核心贡献,按路线颜色区分(D1灰/D2蓝/D3绿/D4紫/D9橙)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11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知识资产 · 数据快照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从论文中提取的核心数据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[数据表格]  按路线(基础/D2/D3/D4/D9)分组的数据表格 — 包含Q×f/温度/成本/浸出率等关键指标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12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知识资产 · 关联网络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25 条论文间关联：知识不是孤岛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[SVG 图表]  SVG节点-连线图 — PAPER-002和PAPER-005为中心节点,连接D2簇(5篇)/D3/D4/D9簇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13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知识资产 · D2 深度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D2 路线：五篇论文构成完整技术链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[SVG 图表]  水平流程 — PAPER-004(基础验证)→PAPER-008(成本突破)→PAPER-009(低温烧结)→PAPER-010+011(掺杂优化)→Cu+Co共掺杂=D2最优解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14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知识资产 · 金字塔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知识资产的三个层次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[SVG 图表]  三层金字塔 — Layer1:PAPER-005四阶段模型(地基) / Layer2:PAPER-002综述框架 / Layer3:各路线实验验证(应用)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15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初阶方案 · 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初阶方案：现在就能启动的四个阶段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[卡片矩阵]  四列卡片 — Phase 0a文献综述(¥0/1-2月) / 0b数据再分析(¥0/1月) / 0c管式炉实验(¥5,000/2-3月) / 0d专利申请(¥3,000/1-2月) · 总预算~8,000元/1-2学期/产出3论文+1专利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16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初阶方案 · Phase 0a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Phase 0a：文献综述 · 站在 10 篇论文的肩膀上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[数据表格]  5篇可直接引用的核心论文 — PAPER-002/PAPER-005/PAPER-006/PAPER-007/PAPER-003 与对应的综述章节和关键引用数据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17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初阶方案 · Phase 0a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Phase 0a：系统检索策略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[清单列表]  中英文检索式(WoS/CNKI/Google Scholar) + 目标期刊(Carbon/Appl Clay Sci/Ceramics Int等) + 预期: 5-15篇直接相关论文 · 产出:1篇中文综述初稿(材料导报/硅酸盐通报)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18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初阶方案 · Phase 0b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Phase 0b：温度-气氛-产物 三位一体相图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[双栏布局]  左：3个论文截图占位(TG-DSC/In-situ XRD/性能对比) | 右：空气 vs N₂气氛四阶段对比相图 + 产物:白色惰性填料 vs 灰色导电/导热填料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TG-DSC 曲线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PAPER-005 Meng 2022 Fig.2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位置: PDF 约 35% 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274320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In-situ XRD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PAPER-005 Meng 2022 Fig.6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位置: PDF 约 60% 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性能对比数据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PAPER-006 吴小文 2017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位置: PDF 约 50% 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19 / 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初阶方案 · Phase 0b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Phase 0b：从已有论文提取的 10 组定量数据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[数据表格]  10行数据表 — 四阶段温度节点/碳氧化窗口/活化窗口/N₂抗弯+43%/N₂导电率×10/N₂导热+0.62/脱羟基起始800°C/脱碳率99.93%/相转变T950 CI=27.3%/T1000介孔4.0nm — 来源PAPER-005/006/007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20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初阶方案 · Phase 0b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Phase 0b：这篇论文的创新点在哪？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[双栏布局]  左：已有论文(PAPER-005仅空气/PAPER-006仅单温度) | 右：我们的贡献(温度×气氛=三位一体相图 · Data Re-analysis类型 · 不需新实验但产出新框架)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21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初阶方案 · Phase 0c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Phase 0c：管式炉验证实验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[双栏布局]  左：实验矩阵SVG(4温度×3N₂流量=12组) + 设备照片占位 | 右：参数表(原料200目/保温2h/升温10°C/min/N₂气氛) · 预算~5,000元/2-3月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管式炉设备照片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学校实验室实拍 或 网图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黑滑石 200目粉体照片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自拍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22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初阶方案 · Phase 0c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Phase 0c：三个增量创新 — PAPER-006 没做过的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[卡片矩阵]  三列卡片 — (1)Raman ID/IG定量石墨烯缺陷密度 vs 温度 vs 流量 / (2)N₂流量梯度50/100/200 mL/min / (3)高碳(~2%)vs 低碳(~0.5%)黑滑石对比确定经济边界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23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初阶方案 · Phase 0c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Phase 0c：预算 ¥5,000 怎么分配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[双栏布局]  左：饼图SVG(管式炉40%/Raman24%/N₂16%/原料10%/XRD10%) | 右：分类说明表格 · 总计¥5,000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24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初阶方案 · Phase 0c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Phase 0c：预期结果与论文规划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[双栏布局]  左：预期结果(ID/IG vs T曲线/ID/IG vs 流量/电阻率 vs T vs 流量/XRD物相演化) | 右：论文结构+目标期刊Ceramics International + 2个趋势图占位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ID/IG vs Temperature 预期趋势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文献参考：典型碳材料Raman数据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位置: 碳材料S曲线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电阻率 vs Temperature 预期趋势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文献参考：percolation曲线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25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初阶方案 · Phase 0d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Phase 0d：发明专利申请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[双栏布局]  左：技术流程SVG(黑滑石→200目→N₂两阶段控温→N₂冷却→球磨分级→导电填料) | 右：三个创新点(矿石自身层间碳/四阶段精确控温/单步法)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26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初阶方案 · Phase 0d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Phase 0d：现有专利格局 — 我们的位置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[数据表格]  已有专利(CN1168795抗病毒/CN109851320A抗菌陶瓷/CN111517649B抗菌岩板/CN111467264A化妆品) + D3方向无专利覆盖→先发优势窗口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27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初阶方案 · 时间线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Phase 0 总览：8 个月 · 4 项产出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[SVG 图表]  甘特图 — Phase 0a(1-2月)→0b(2-3月)→0c(3-6月)→0d(5-7月) · 产出:综述初稿+相图论文+Raman实验论文+发明专利×1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28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初阶方案 · 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初阶路线图：从文献到企业验证的完整路径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[SVG 图表]  四学期时间线 — 学期1-2:文献综述+数据再分析/学期3-4:管式炉实验+论文专利/学期5-6:回转窑N₂改造/学期7-8:D1煅烧优化 → 初阶成果检验 → 进入中阶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29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初阶方案 · 企业合作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如何找到第一个合作企业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[清单列表]  企业画像(本地煅烧厂) + 接触渠道(导师人脉⭐⭐⭐⭐⭐/矿区走访⭐⭐⭐⭐/科技局⭐⭐⭐⭐/行业协会⭐⭐⭐/1688⭐⭐⭐) + Phase 1企业投入~¥1-5万/次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广丰地区煅烧厂照片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百度街景 或 实地拍摄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广丰区地图 标注截图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百度地图 标注截图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30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初阶方案 · 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初阶风险矩阵：每件事的 Plan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[数据表格]  5项风险(学校无管式炉/N₂未石墨烯化/综述不够论文/专利被驳回/找不到企业) × 概率/影响/应对策略 · 核心原则:每一步都设计了不需要企业的备选路径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31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初阶方案 · 检验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初阶完成标准：什么时候可以进入中阶？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[SVG 图表]  四道门递进图 — 论文发表(1-2篇)→专利授权(1-2项)→企业意向(Phase 1反馈)→中试数据(公斤→百公斤) → 进入中阶合作谈判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32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初阶方案 · 身份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初阶完成后的身份转换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[双栏布局]  左：现在(对黑滑石感兴趣的大一学生) → 右：初阶完成后(N₂气氛黑滑石碳石墨烯化方向有论文+专利的初级研究者) · 这个身份转换=进入中阶的门票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33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中阶方案 · 总引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中阶方案：从课题组到产学研合作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[双栏布局]  初阶(已完成:论文+专利/¥8,000) → 中阶(本阶段:中试线/客户开发/500-5,000万) · 核心策略:D2(5G陶瓷)+D3(N₂碳复合)双旗舰并行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34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中阶方案 · 掺杂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中阶核心决策：D2 路线选哪种掺杂？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[数据表格]  5种掺杂对比(无掺杂Q×f=56,782/Cu 5% Q×f=93,600/Co 15% Q×f=145,846/Ge 4% Q×f=216,880) · 推荐:Cu(3%)+Co(8%)共掺杂 预期Q×f&gt;120,000 |τf|&lt;±15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Q×f vs τf 散点图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PAPER-010 Fig.7 + PAPER-011 Fig.8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位置: PDF 后半部分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35 / 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中阶方案 · 双旗舰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中阶双旗舰：D3 先盈利，D2 建壁垒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[SVG 图表]  双通道时间线 — D3快赢(吨级中试0-6月→送样6-12→订单12-18→扩产18-24月 CAPEX~50万 毛利率~93%) / D2高壁垒(配方定型0-6→中试6-18→基站验证18-30月 CAPEX~500万)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36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中阶方案 · 财务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中阶经济模型概要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[数据表格]  D3 vs D2对比表 — CAPEX(50-80万 vs 300-500万)/产能(100-500吨 vs 10-50吨)/单价(0.5-2万 vs 5-10万/吨)/年营收(50-500万 vs 50-500万)/毛利率(70-93% vs 40-60%) · 合计~500万/~500-1000万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37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中阶方案 · 触发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中阶关键风险与进入条件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[清单列表]  关键风险(Co供应链/客户验证周期/环保审批) + 四条触发信号(论文+专利+企业意向+中试数据) · 配套文件:tier-2-mid-level.md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38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高阶方案 · 愿景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高阶方案：产学研联合体的全产业链整合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[清单列表]  五条路线全线启动 — D1 50万吨/D2量产/D3出口/D4独立产品线/D9全线 · 总计:CAPEX~5.5亿/年营收~15亿/年EBIT~9.1亿/原料消化百万吨级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39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高阶方案 · 分级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原料分级：同一座矿，五种产品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[SVG 图表]  树状分配图 — 原矿100%→~5%特选(MgO&gt;30%)→D4/~20%高镁(MgO28-31%)→D2/~10%高碳(&gt;2%)→D3/~50%中等→D9/~15%低品位→D1 · 核心逻辑:什么矿适合什么产品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XRF 成分对比表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PAPER-005 Table 1 + PAPER-007 Table 1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位置: PDF 前 15% 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40 / 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高阶方案 · 协同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五条路线的协同效应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[SVG 图表]  废弃物互消化流程 — D1尾矿/D3筛下料/D9残渣→其他路线消化 · 关键协同:D3+D1共用煅烧窑/D2+D9原料降本/D9副产SiO₂→D1/D4 · 五线协同成本降~35-40% · 证据:PAPER-008成本降80%/PAPER-007 Mg97.98%+SiO₂99.92%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41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收尾 · 行动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下一步行动：本周就能开始的三件事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[清单列表]  立即(本周):确认设备/启动检索/下载Ge论文 · 短期(1-4周):综述提纲/采购样品 · 中期(1-6月):数据论文/管式炉实验/专利撰写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42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收尾 · 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365D"/>
                </a:solidFill>
                <a:latin typeface="Source Han Sans SC"/>
              </a:defRPr>
            </a:pPr>
            <a:r>
              <a:t>希望得到导师指导的四个问题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4151"/>
                </a:solidFill>
                <a:latin typeface="Source Han Serif SC"/>
              </a:defRPr>
            </a:pPr>
            <a:r>
              <a:t>[清单列表]  四个结构化问题 — (1)学校是否有N₂气氛高温实验设备? / (2)是否有广丰本地煅烧企业联系人? / (3)D3(石墨烯填料)还是D2(5G陶瓷)更适合本科起点? / (4)是否可以安排研究生参与或作为本科毕设?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43 / 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0520A"/>
                </a:solidFill>
                <a:latin typeface="Source Han Sans SC"/>
              </a:defRPr>
            </a:pPr>
            <a:r>
              <a:t>■ 收尾 · 致谢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ource Han Sans SC"/>
              </a:defRPr>
            </a:pPr>
            <a:r>
              <a:t>感谢导师的宝贵时间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Source Han Serif SC"/>
              </a:defRPr>
            </a:pPr>
            <a:r>
              <a:t>[暗底页]  致谢页 — 矿区远景照片背景 + 汇报人/[学校邮箱]/2026年7月 + 底部文字:10亿吨黑滑石,从一个本科生做起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4754880" cy="914400"/>
          </a:xfrm>
          <a:prstGeom prst="rect">
            <a:avLst/>
          </a:prstGeom>
          <a:solidFill>
            <a:srgbClr val="F7F6F3"/>
          </a:solidFill>
          <a:ln w="19050">
            <a:solidFill>
              <a:srgbClr val="E5E7EB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CA3AF"/>
                </a:solidFill>
                <a:latin typeface="Source Han Sans SC"/>
              </a:defRPr>
            </a:pPr>
            <a:r>
              <a:t>[图表占位] 矿区远景</a:t>
            </a:r>
          </a:p>
          <a:p>
            <a:pPr>
              <a:defRPr sz="900">
                <a:solidFill>
                  <a:srgbClr val="B0B7C3"/>
                </a:solidFill>
                <a:latin typeface="Source Han Serif SC"/>
              </a:defRPr>
            </a:pPr>
            <a:r>
              <a:t>来源: 广丰矿区或江西丘陵地貌风景照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44 / 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  <a:latin typeface="Source Han Serif SC"/>
              </a:defRPr>
            </a:pPr>
            <a:r>
              <a:t>数据来源: tier-1-entry-level.md + 对应论文分析报告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